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6"/>
  </p:notesMasterIdLst>
  <p:handoutMasterIdLst>
    <p:handoutMasterId r:id="rId17"/>
  </p:handoutMasterIdLst>
  <p:sldIdLst>
    <p:sldId id="368" r:id="rId2"/>
    <p:sldId id="433" r:id="rId3"/>
    <p:sldId id="404" r:id="rId4"/>
    <p:sldId id="426" r:id="rId5"/>
    <p:sldId id="444" r:id="rId6"/>
    <p:sldId id="445" r:id="rId7"/>
    <p:sldId id="425" r:id="rId8"/>
    <p:sldId id="446" r:id="rId9"/>
    <p:sldId id="448" r:id="rId10"/>
    <p:sldId id="449" r:id="rId11"/>
    <p:sldId id="436" r:id="rId12"/>
    <p:sldId id="447" r:id="rId13"/>
    <p:sldId id="428" r:id="rId14"/>
    <p:sldId id="284" r:id="rId1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98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pos="6142" userDrawn="1">
          <p15:clr>
            <a:srgbClr val="A4A3A4"/>
          </p15:clr>
        </p15:guide>
        <p15:guide id="5" orient="horz" pos="119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3489" userDrawn="1">
          <p15:clr>
            <a:srgbClr val="A4A3A4"/>
          </p15:clr>
        </p15:guide>
        <p15:guide id="8" pos="3120" userDrawn="1">
          <p15:clr>
            <a:srgbClr val="A4A3A4"/>
          </p15:clr>
        </p15:guide>
        <p15:guide id="9" pos="5700" userDrawn="1">
          <p15:clr>
            <a:srgbClr val="A4A3A4"/>
          </p15:clr>
        </p15:guide>
        <p15:guide id="10" pos="2014" userDrawn="1">
          <p15:clr>
            <a:srgbClr val="A4A3A4"/>
          </p15:clr>
        </p15:guide>
        <p15:guide id="11" pos="38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E57"/>
    <a:srgbClr val="243786"/>
    <a:srgbClr val="E0E0E0"/>
    <a:srgbClr val="BFDDF9"/>
    <a:srgbClr val="FFE7B7"/>
    <a:srgbClr val="9AB6E5"/>
    <a:srgbClr val="6F8CC9"/>
    <a:srgbClr val="445FAA"/>
    <a:srgbClr val="595E65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32" autoAdjust="0"/>
    <p:restoredTop sz="92516" autoAdjust="0"/>
  </p:normalViewPr>
  <p:slideViewPr>
    <p:cSldViewPr snapToGrid="0">
      <p:cViewPr>
        <p:scale>
          <a:sx n="100" d="100"/>
          <a:sy n="100" d="100"/>
        </p:scale>
        <p:origin x="3584" y="1136"/>
      </p:cViewPr>
      <p:guideLst>
        <p:guide orient="horz" pos="2341"/>
        <p:guide pos="98"/>
        <p:guide orient="horz" pos="709"/>
        <p:guide pos="6142"/>
        <p:guide orient="horz" pos="119"/>
        <p:guide orient="horz" pos="3974"/>
        <p:guide pos="3489"/>
        <p:guide pos="3120"/>
        <p:guide pos="5700"/>
        <p:guide pos="2014"/>
        <p:guide pos="38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2" d="100"/>
          <a:sy n="112" d="100"/>
        </p:scale>
        <p:origin x="17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인 이" userId="a6bf09c0c2b50d42" providerId="LiveId" clId="{9AEA989E-861A-4F41-B0AC-F304AC93B339}"/>
    <pc:docChg chg="undo custSel addSld modSld">
      <pc:chgData name="수인 이" userId="a6bf09c0c2b50d42" providerId="LiveId" clId="{9AEA989E-861A-4F41-B0AC-F304AC93B339}" dt="2026-06-15T08:18:30.414" v="67" actId="1076"/>
      <pc:docMkLst>
        <pc:docMk/>
      </pc:docMkLst>
      <pc:sldChg chg="modSp mod">
        <pc:chgData name="수인 이" userId="a6bf09c0c2b50d42" providerId="LiveId" clId="{9AEA989E-861A-4F41-B0AC-F304AC93B339}" dt="2026-06-15T08:18:30.414" v="67" actId="1076"/>
        <pc:sldMkLst>
          <pc:docMk/>
          <pc:sldMk cId="1208243226" sldId="436"/>
        </pc:sldMkLst>
        <pc:spChg chg="mod">
          <ac:chgData name="수인 이" userId="a6bf09c0c2b50d42" providerId="LiveId" clId="{9AEA989E-861A-4F41-B0AC-F304AC93B339}" dt="2026-06-15T08:10:48.053" v="59" actId="1076"/>
          <ac:spMkLst>
            <pc:docMk/>
            <pc:sldMk cId="1208243226" sldId="436"/>
            <ac:spMk id="15" creationId="{140E1A87-FD96-D702-6DEE-C1085F261163}"/>
          </ac:spMkLst>
        </pc:spChg>
        <pc:picChg chg="mod">
          <ac:chgData name="수인 이" userId="a6bf09c0c2b50d42" providerId="LiveId" clId="{9AEA989E-861A-4F41-B0AC-F304AC93B339}" dt="2026-06-15T08:18:30.414" v="67" actId="1076"/>
          <ac:picMkLst>
            <pc:docMk/>
            <pc:sldMk cId="1208243226" sldId="436"/>
            <ac:picMk id="18" creationId="{8763A188-22E5-6705-AF66-71521BBCF9E5}"/>
          </ac:picMkLst>
        </pc:picChg>
      </pc:sldChg>
      <pc:sldChg chg="modSp mod">
        <pc:chgData name="수인 이" userId="a6bf09c0c2b50d42" providerId="LiveId" clId="{9AEA989E-861A-4F41-B0AC-F304AC93B339}" dt="2026-06-15T08:03:03.798" v="47" actId="20577"/>
        <pc:sldMkLst>
          <pc:docMk/>
          <pc:sldMk cId="1157525857" sldId="446"/>
        </pc:sldMkLst>
        <pc:spChg chg="mod">
          <ac:chgData name="수인 이" userId="a6bf09c0c2b50d42" providerId="LiveId" clId="{9AEA989E-861A-4F41-B0AC-F304AC93B339}" dt="2026-06-15T08:03:03.798" v="47" actId="20577"/>
          <ac:spMkLst>
            <pc:docMk/>
            <pc:sldMk cId="1157525857" sldId="446"/>
            <ac:spMk id="2" creationId="{41103486-94BE-14E6-8110-4DD7647A75C4}"/>
          </ac:spMkLst>
        </pc:spChg>
      </pc:sldChg>
      <pc:sldChg chg="addSp delSp modSp add mod">
        <pc:chgData name="수인 이" userId="a6bf09c0c2b50d42" providerId="LiveId" clId="{9AEA989E-861A-4F41-B0AC-F304AC93B339}" dt="2026-06-15T08:02:58.671" v="37" actId="20577"/>
        <pc:sldMkLst>
          <pc:docMk/>
          <pc:sldMk cId="3019696817" sldId="448"/>
        </pc:sldMkLst>
        <pc:spChg chg="mod">
          <ac:chgData name="수인 이" userId="a6bf09c0c2b50d42" providerId="LiveId" clId="{9AEA989E-861A-4F41-B0AC-F304AC93B339}" dt="2026-06-15T08:02:58.671" v="37" actId="20577"/>
          <ac:spMkLst>
            <pc:docMk/>
            <pc:sldMk cId="3019696817" sldId="448"/>
            <ac:spMk id="2" creationId="{41103486-94BE-14E6-8110-4DD7647A75C4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8" creationId="{667E4A2D-6AB9-D1A0-48B7-B174F2DCF3B7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9" creationId="{F3D415B7-B047-0278-1916-3405CB97302A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10" creationId="{CE5A8466-35D9-B701-ACB2-1FB5EBDC6748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11" creationId="{AD30F8B7-FF7E-C290-9404-BE82F2A372CC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12" creationId="{E5504D73-4679-1151-ECC0-8E8BF40F837D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13" creationId="{85B71C49-42E3-6667-D048-B9A0C091D7CE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35" creationId="{354B38BB-48DF-7D3E-FC71-2A06B98DF586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38" creationId="{3509898D-DE23-156B-75EF-D39CC328132F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39" creationId="{04606D53-385A-A750-9EF0-83C8CA4F2597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40" creationId="{9EE0062C-E6B8-28C8-E6BE-AD372B874032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42" creationId="{4B3A32A9-7905-190F-3CE4-0583D173D446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49" creationId="{A99DF3B0-922E-1124-A738-E1E0E13D6B0A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64" creationId="{669B433F-9810-41B2-359F-F1AFB829DBAE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77" creationId="{C4CA54BD-95A7-E99C-AF6D-09DBE7EF64E8}"/>
          </ac:spMkLst>
        </pc:spChg>
        <pc:spChg chg="del">
          <ac:chgData name="수인 이" userId="a6bf09c0c2b50d42" providerId="LiveId" clId="{9AEA989E-861A-4F41-B0AC-F304AC93B339}" dt="2026-06-15T08:01:54.404" v="1" actId="478"/>
          <ac:spMkLst>
            <pc:docMk/>
            <pc:sldMk cId="3019696817" sldId="448"/>
            <ac:spMk id="86" creationId="{47B697D8-7680-76D6-E441-AD78EDF15DFF}"/>
          </ac:spMkLst>
        </pc:spChg>
        <pc:picChg chg="add del mod">
          <ac:chgData name="수인 이" userId="a6bf09c0c2b50d42" providerId="LiveId" clId="{9AEA989E-861A-4F41-B0AC-F304AC93B339}" dt="2026-06-15T08:01:59.936" v="3" actId="478"/>
          <ac:picMkLst>
            <pc:docMk/>
            <pc:sldMk cId="3019696817" sldId="448"/>
            <ac:picMk id="4" creationId="{A97EB4D2-3786-E5F3-53C1-64B7D9006E71}"/>
          </ac:picMkLst>
        </pc:picChg>
        <pc:picChg chg="add mod modCrop">
          <ac:chgData name="수인 이" userId="a6bf09c0c2b50d42" providerId="LiveId" clId="{9AEA989E-861A-4F41-B0AC-F304AC93B339}" dt="2026-06-15T08:02:39.815" v="15" actId="1076"/>
          <ac:picMkLst>
            <pc:docMk/>
            <pc:sldMk cId="3019696817" sldId="448"/>
            <ac:picMk id="6" creationId="{B38362CD-F559-4944-0F9D-042C29A43E54}"/>
          </ac:picMkLst>
        </pc:picChg>
        <pc:picChg chg="del">
          <ac:chgData name="수인 이" userId="a6bf09c0c2b50d42" providerId="LiveId" clId="{9AEA989E-861A-4F41-B0AC-F304AC93B339}" dt="2026-06-15T08:01:54.404" v="1" actId="478"/>
          <ac:picMkLst>
            <pc:docMk/>
            <pc:sldMk cId="3019696817" sldId="448"/>
            <ac:picMk id="15" creationId="{2A9455F2-012F-42AF-B065-ED5B7D71FBB6}"/>
          </ac:picMkLst>
        </pc:picChg>
        <pc:picChg chg="del">
          <ac:chgData name="수인 이" userId="a6bf09c0c2b50d42" providerId="LiveId" clId="{9AEA989E-861A-4F41-B0AC-F304AC93B339}" dt="2026-06-15T08:01:54.404" v="1" actId="478"/>
          <ac:picMkLst>
            <pc:docMk/>
            <pc:sldMk cId="3019696817" sldId="448"/>
            <ac:picMk id="16" creationId="{7620A1C4-8747-12E9-F954-B711F6C70D38}"/>
          </ac:picMkLst>
        </pc:picChg>
        <pc:picChg chg="del">
          <ac:chgData name="수인 이" userId="a6bf09c0c2b50d42" providerId="LiveId" clId="{9AEA989E-861A-4F41-B0AC-F304AC93B339}" dt="2026-06-15T08:01:54.404" v="1" actId="478"/>
          <ac:picMkLst>
            <pc:docMk/>
            <pc:sldMk cId="3019696817" sldId="448"/>
            <ac:picMk id="63" creationId="{E3022932-0A24-FDA8-055D-5ADE793D729B}"/>
          </ac:picMkLst>
        </pc:picChg>
        <pc:picChg chg="del">
          <ac:chgData name="수인 이" userId="a6bf09c0c2b50d42" providerId="LiveId" clId="{9AEA989E-861A-4F41-B0AC-F304AC93B339}" dt="2026-06-15T08:01:54.404" v="1" actId="478"/>
          <ac:picMkLst>
            <pc:docMk/>
            <pc:sldMk cId="3019696817" sldId="448"/>
            <ac:picMk id="72" creationId="{7EA3728F-A007-617F-984D-D498D912F511}"/>
          </ac:picMkLst>
        </pc:picChg>
        <pc:cxnChg chg="del mod">
          <ac:chgData name="수인 이" userId="a6bf09c0c2b50d42" providerId="LiveId" clId="{9AEA989E-861A-4F41-B0AC-F304AC93B339}" dt="2026-06-15T08:01:54.404" v="1" actId="478"/>
          <ac:cxnSpMkLst>
            <pc:docMk/>
            <pc:sldMk cId="3019696817" sldId="448"/>
            <ac:cxnSpMk id="18" creationId="{778A39D9-A9DB-4213-E4EB-ECD36565D430}"/>
          </ac:cxnSpMkLst>
        </pc:cxnChg>
        <pc:cxnChg chg="del mod">
          <ac:chgData name="수인 이" userId="a6bf09c0c2b50d42" providerId="LiveId" clId="{9AEA989E-861A-4F41-B0AC-F304AC93B339}" dt="2026-06-15T08:01:54.404" v="1" actId="478"/>
          <ac:cxnSpMkLst>
            <pc:docMk/>
            <pc:sldMk cId="3019696817" sldId="448"/>
            <ac:cxnSpMk id="21" creationId="{5AD792DB-31F4-CCD2-39E4-17B06F84CB53}"/>
          </ac:cxnSpMkLst>
        </pc:cxnChg>
        <pc:cxnChg chg="del mod">
          <ac:chgData name="수인 이" userId="a6bf09c0c2b50d42" providerId="LiveId" clId="{9AEA989E-861A-4F41-B0AC-F304AC93B339}" dt="2026-06-15T08:01:54.404" v="1" actId="478"/>
          <ac:cxnSpMkLst>
            <pc:docMk/>
            <pc:sldMk cId="3019696817" sldId="448"/>
            <ac:cxnSpMk id="27" creationId="{05A9C964-CDA3-7203-ABA7-A4404774216A}"/>
          </ac:cxnSpMkLst>
        </pc:cxnChg>
        <pc:cxnChg chg="del mod">
          <ac:chgData name="수인 이" userId="a6bf09c0c2b50d42" providerId="LiveId" clId="{9AEA989E-861A-4F41-B0AC-F304AC93B339}" dt="2026-06-15T08:01:54.404" v="1" actId="478"/>
          <ac:cxnSpMkLst>
            <pc:docMk/>
            <pc:sldMk cId="3019696817" sldId="448"/>
            <ac:cxnSpMk id="57" creationId="{794E8B27-CC1B-7FF4-4FC2-C6606799055C}"/>
          </ac:cxnSpMkLst>
        </pc:cxnChg>
        <pc:cxnChg chg="del mod">
          <ac:chgData name="수인 이" userId="a6bf09c0c2b50d42" providerId="LiveId" clId="{9AEA989E-861A-4F41-B0AC-F304AC93B339}" dt="2026-06-15T08:01:54.404" v="1" actId="478"/>
          <ac:cxnSpMkLst>
            <pc:docMk/>
            <pc:sldMk cId="3019696817" sldId="448"/>
            <ac:cxnSpMk id="78" creationId="{1CE74FA3-CE27-DCEC-0C45-2C37C44A7D24}"/>
          </ac:cxnSpMkLst>
        </pc:cxnChg>
      </pc:sldChg>
      <pc:sldChg chg="addSp delSp modSp add mod">
        <pc:chgData name="수인 이" userId="a6bf09c0c2b50d42" providerId="LiveId" clId="{9AEA989E-861A-4F41-B0AC-F304AC93B339}" dt="2026-06-15T08:13:31.413" v="65" actId="1076"/>
        <pc:sldMkLst>
          <pc:docMk/>
          <pc:sldMk cId="3053189749" sldId="449"/>
        </pc:sldMkLst>
        <pc:picChg chg="add mod modCrop">
          <ac:chgData name="수인 이" userId="a6bf09c0c2b50d42" providerId="LiveId" clId="{9AEA989E-861A-4F41-B0AC-F304AC93B339}" dt="2026-06-15T08:13:31.413" v="65" actId="1076"/>
          <ac:picMkLst>
            <pc:docMk/>
            <pc:sldMk cId="3053189749" sldId="449"/>
            <ac:picMk id="4" creationId="{0ED92C86-F8C3-2360-6F3E-C32E047FC1CF}"/>
          </ac:picMkLst>
        </pc:picChg>
        <pc:picChg chg="del">
          <ac:chgData name="수인 이" userId="a6bf09c0c2b50d42" providerId="LiveId" clId="{9AEA989E-861A-4F41-B0AC-F304AC93B339}" dt="2026-06-15T08:03:08.117" v="49" actId="478"/>
          <ac:picMkLst>
            <pc:docMk/>
            <pc:sldMk cId="3053189749" sldId="449"/>
            <ac:picMk id="6" creationId="{B38362CD-F559-4944-0F9D-042C29A43E5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C1FB337-6FFD-1C45-3376-8B4FF4BE83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ko-KR" altLang="en-US" dirty="0"/>
              <a:t>대주제</a:t>
            </a:r>
            <a:r>
              <a:rPr lang="en-US" altLang="ko-KR" dirty="0"/>
              <a:t>/</a:t>
            </a:r>
            <a:r>
              <a:rPr lang="ko-KR" altLang="en-US" dirty="0"/>
              <a:t>제목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3153AE-DA2A-4E50-6C87-383451031D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5C74B-9E9E-42F8-AEA4-C650B04ABE4D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A35FE1-2DFA-A53C-2D80-E4A37426A5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429719-A648-0970-43E0-A5EF79B880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4C6CE-AC8F-4AED-91F9-4AD205AD20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0414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04E88-7363-45A6-8648-9D1AFBEE95CE}" type="datetimeFigureOut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9F3C1-D87C-46B1-A7DA-25FA267CC4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011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078E-6285-D733-A2D8-8880D77C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95DF3A-D720-4146-3E0A-ECBBEF52F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E3476D-AA29-DF56-D088-49BC2691B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6FC28-4B70-4985-8082-347F72CDB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268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7078E-6285-D733-A2D8-8880D77C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95DF3A-D720-4146-3E0A-ECBBEF52F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E3476D-AA29-DF56-D088-49BC2691B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체크 필요 사항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기술 분류 트리 개발 </a:t>
            </a:r>
            <a:r>
              <a:rPr lang="en-US" altLang="ko-KR" dirty="0"/>
              <a:t>Task</a:t>
            </a:r>
            <a:r>
              <a:rPr lang="ko-KR" altLang="en-US" dirty="0"/>
              <a:t>에 대한 논의가 갑자기 등장하는 이유</a:t>
            </a:r>
            <a:r>
              <a:rPr lang="en-US" altLang="ko-KR" dirty="0"/>
              <a:t>? </a:t>
            </a:r>
            <a:r>
              <a:rPr lang="ko-KR" altLang="en-US" dirty="0"/>
              <a:t>개념 혼동 방지를 위함</a:t>
            </a:r>
            <a:r>
              <a:rPr lang="en-US" altLang="ko-KR" dirty="0"/>
              <a:t>? (</a:t>
            </a:r>
            <a:r>
              <a:rPr lang="ko-KR" altLang="en-US" dirty="0"/>
              <a:t>중간 발표 자료에 있길래 일단 포함시켜서 작성하긴 했는데</a:t>
            </a:r>
            <a:r>
              <a:rPr lang="en-US" altLang="ko-KR" dirty="0"/>
              <a:t>, </a:t>
            </a:r>
            <a:r>
              <a:rPr lang="ko-KR" altLang="en-US" dirty="0"/>
              <a:t>이 구조로 갈 거면 후에 문장에 레퍼런스 </a:t>
            </a:r>
            <a:r>
              <a:rPr lang="ko-KR" altLang="en-US" dirty="0" err="1"/>
              <a:t>달아야할</a:t>
            </a:r>
            <a:r>
              <a:rPr lang="ko-KR" altLang="en-US" dirty="0"/>
              <a:t> 듯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기술 분류 트리 개발이 </a:t>
            </a:r>
            <a:r>
              <a:rPr lang="en-US" altLang="ko-KR" dirty="0"/>
              <a:t>IPC/CPC </a:t>
            </a:r>
            <a:r>
              <a:rPr lang="ko-KR" altLang="en-US" dirty="0"/>
              <a:t>분류인가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3. ‘Patent</a:t>
            </a:r>
            <a:r>
              <a:rPr lang="ko-KR" altLang="en-US" dirty="0"/>
              <a:t> </a:t>
            </a:r>
            <a:r>
              <a:rPr lang="en-US" altLang="ko-KR" dirty="0"/>
              <a:t>Landscaping</a:t>
            </a:r>
            <a:r>
              <a:rPr lang="ko-KR" altLang="en-US" dirty="0"/>
              <a:t>이 기술 분류 트리 개발에 선행하는 </a:t>
            </a:r>
            <a:r>
              <a:rPr lang="en-US" altLang="ko-KR" dirty="0"/>
              <a:t>Task’</a:t>
            </a:r>
            <a:r>
              <a:rPr lang="ko-KR" altLang="en-US" dirty="0"/>
              <a:t>가 맞나</a:t>
            </a:r>
            <a:r>
              <a:rPr lang="en-US" altLang="ko-KR" dirty="0"/>
              <a:t>? </a:t>
            </a:r>
            <a:r>
              <a:rPr lang="ko-KR" altLang="en-US" dirty="0"/>
              <a:t>레퍼런스 필요할 듯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6FC28-4B70-4985-8082-347F72CDB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825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BFF2B-A8B9-1409-7FA0-D13D6C9D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396537-9F2A-7489-1F7B-EC06D4719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07371F-2391-6A15-48BA-6927EFDF2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BD87B-E05B-CED9-5F64-C84ABC5A3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408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E1A47-5601-AD3E-2A11-2BB6978E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F46D3E-E5DC-8EF8-0FBF-50A4A1EB0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02EB74-FF83-7AE8-B21F-925629287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F500F-2A16-1E8E-C988-E1BCECC87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915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2497-CA1A-3310-902E-3900971A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A0107D-ACF6-534A-705F-1D53C7730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191357-0FE3-5EB5-56E8-94260D0F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6392B7-AE82-1D60-D833-8CC3FA4D0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88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F976-0D31-DDB2-4C00-E906D810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EC159A-F055-CEED-866B-554D65B01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7B62BB-C1A5-E82B-9C41-8278E13DC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7CBD26-60D9-BCFC-2F3E-28FAF5918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446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7351-766A-0BA2-E04F-FD2EFB47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F7CF7E-4D3D-7746-D2C3-D9D70A89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909547-BDED-B4CA-8391-350388DC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D4371-F30B-BB97-A78C-A683F7D68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104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7351-766A-0BA2-E04F-FD2EFB47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F7CF7E-4D3D-7746-D2C3-D9D70A89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909547-BDED-B4CA-8391-350388DC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D4371-F30B-BB97-A78C-A683F7D68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018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7351-766A-0BA2-E04F-FD2EFB479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F7CF7E-4D3D-7746-D2C3-D9D70A89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909547-BDED-B4CA-8391-350388DCE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9D4371-F30B-BB97-A78C-A683F7D68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71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52ED4-DF96-D02F-B5DB-0EDBB513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E7AA44-3647-4308-E5FA-1026A875C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383350-FA70-F431-D738-0FDE5003B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EC00C6-B6C7-7CF8-35B0-8A62D9FA2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881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40FF-04BD-E661-0F5B-11C06F6E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1C8C23-7199-DBDB-6CC2-F5CBD4D35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8DE99B-C3A5-3D7E-1FEC-3E2FF21E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CC244-055A-0304-C7DC-214F88FAA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774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D951-31D1-BD8B-0E21-E2C31590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CCFBEE-28AF-E899-9446-61D2746D8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F63085-97E3-0901-4377-EA2D5742A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E41B7-BCB9-3EAA-D7C5-F4EA139B2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518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9F3C1-D87C-46B1-A7DA-25FA267CC46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262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6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4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2EB4C0AF-6D65-4624-9E3A-E86726842E11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326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59B0E4-D77C-4CA9-BBAA-50AD27FC3E2F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388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7B24B6C0-132C-4ECB-8D2D-526C9F5F2627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02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상징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BDDD281D-2D82-CECE-F591-3C22AB9A0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148" y="310033"/>
            <a:ext cx="551643" cy="572382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0C3F1AF-797A-DCF9-15FE-361561C0A01E}"/>
              </a:ext>
            </a:extLst>
          </p:cNvPr>
          <p:cNvSpPr/>
          <p:nvPr userDrawn="1"/>
        </p:nvSpPr>
        <p:spPr>
          <a:xfrm>
            <a:off x="457300" y="1121898"/>
            <a:ext cx="9000000" cy="45719"/>
          </a:xfrm>
          <a:prstGeom prst="roundRect">
            <a:avLst>
              <a:gd name="adj" fmla="val 42670"/>
            </a:avLst>
          </a:prstGeom>
          <a:solidFill>
            <a:srgbClr val="193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CA337D0-92EE-7C1A-2756-C24C3D67DA06}"/>
              </a:ext>
            </a:extLst>
          </p:cNvPr>
          <p:cNvCxnSpPr>
            <a:cxnSpLocks/>
          </p:cNvCxnSpPr>
          <p:nvPr userDrawn="1"/>
        </p:nvCxnSpPr>
        <p:spPr>
          <a:xfrm>
            <a:off x="436685" y="6214232"/>
            <a:ext cx="8977190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D5C493BD-71D4-D564-789A-72DCFB66ACF8}"/>
              </a:ext>
            </a:extLst>
          </p:cNvPr>
          <p:cNvSpPr/>
          <p:nvPr userDrawn="1"/>
        </p:nvSpPr>
        <p:spPr>
          <a:xfrm>
            <a:off x="9385300" y="6176132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>
                    <a:lumMod val="50000"/>
                    <a:alpha val="0"/>
                  </a:schemeClr>
                </a:solidFill>
              </a:ln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BB7F5F1-CC3A-101F-1182-F6054A7FE2AF}"/>
              </a:ext>
            </a:extLst>
          </p:cNvPr>
          <p:cNvSpPr txBox="1">
            <a:spLocks/>
          </p:cNvSpPr>
          <p:nvPr userDrawn="1"/>
        </p:nvSpPr>
        <p:spPr>
          <a:xfrm>
            <a:off x="7291265" y="629505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1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Calibri" panose="020F0502020204030204" pitchFamily="34" charset="0"/>
                <a:cs typeface="Calibri" panose="020F0502020204030204" pitchFamily="34" charset="0"/>
              </a:rPr>
              <a:t>page </a:t>
            </a:r>
            <a:fld id="{02A25481-603C-475E-8796-E2BA908AA823}" type="slidenum">
              <a:rPr lang="ko-KR" altLang="en-US" b="1" smtClean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r>
              <a:rPr lang="ko-KR" altLang="en-US" b="1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latin typeface="Calibri Light" panose="020F0302020204030204" pitchFamily="34" charset="0"/>
                <a:cs typeface="Calibri Light" panose="020F0302020204030204" pitchFamily="34" charset="0"/>
              </a:rPr>
              <a:t>of 20</a:t>
            </a:r>
            <a:endParaRPr lang="ko-KR" altLang="en-US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사각형: 둥근 대각선 방향 모서리 20">
            <a:extLst>
              <a:ext uri="{FF2B5EF4-FFF2-40B4-BE49-F238E27FC236}">
                <a16:creationId xmlns:a16="http://schemas.microsoft.com/office/drawing/2014/main" id="{349053BA-E4A6-C9A7-CFBF-983688574A6A}"/>
              </a:ext>
            </a:extLst>
          </p:cNvPr>
          <p:cNvSpPr>
            <a:spLocks noChangeAspect="1"/>
          </p:cNvSpPr>
          <p:nvPr userDrawn="1"/>
        </p:nvSpPr>
        <p:spPr>
          <a:xfrm>
            <a:off x="514440" y="601903"/>
            <a:ext cx="342000" cy="342000"/>
          </a:xfrm>
          <a:prstGeom prst="round2DiagRect">
            <a:avLst>
              <a:gd name="adj1" fmla="val 37070"/>
              <a:gd name="adj2" fmla="val 0"/>
            </a:avLst>
          </a:prstGeom>
          <a:solidFill>
            <a:srgbClr val="243786"/>
          </a:solidFill>
          <a:ln w="38100" cap="rnd">
            <a:solidFill>
              <a:srgbClr val="243786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911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45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78AEF9A0-BA6B-4127-91F7-D5DA05C431E2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917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76D2869-B9BF-4C77-A17B-5A16682108FE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58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3EC853F-31A6-431B-8ADE-0782B3C78BEB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TECHNOLOGY INTELLIGENCE LAB</a:t>
            </a: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85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3329D362-8D0E-4B4D-95EA-FC2CE30CEB3B}" type="datetime1">
              <a:rPr lang="ko-KR" altLang="en-US" smtClean="0"/>
              <a:t>2026-06-15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TECHNOLOGY INTELLIGENCE LAB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02A25481-603C-475E-8796-E2BA908AA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00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21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tx1">
                <a:alpha val="0"/>
              </a:schemeClr>
            </a:solidFill>
          </a:ln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7EEF449E-E390-1688-AFB1-58D6183BBE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579091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59897C3-CE9B-D135-4A70-22A33C7EE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6836" y="2363615"/>
            <a:ext cx="6114879" cy="1065385"/>
          </a:xfrm>
        </p:spPr>
        <p:txBody>
          <a:bodyPr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</a:rPr>
              <a:t>Multi Agent Systems(MAS)</a:t>
            </a:r>
            <a:r>
              <a:rPr lang="ko-KR" altLang="en-US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</a:rPr>
              <a:t> 기반 </a:t>
            </a:r>
            <a:b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</a:rPr>
            </a:br>
            <a:r>
              <a:rPr lang="ko-KR" altLang="en-US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</a:rPr>
              <a:t>기술 도메인 적합 특허 선별 프레임워크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DE3212-26CB-F91E-BF61-A8D96D0AD121}"/>
              </a:ext>
            </a:extLst>
          </p:cNvPr>
          <p:cNvSpPr txBox="1"/>
          <p:nvPr/>
        </p:nvSpPr>
        <p:spPr>
          <a:xfrm>
            <a:off x="6269181" y="5574689"/>
            <a:ext cx="2038828" cy="782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30"/>
              </a:spcAft>
            </a:pP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서비스 혁신 연구실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r">
              <a:spcAft>
                <a:spcPts val="130"/>
              </a:spcAft>
            </a:pP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서비스 혁신 연구실</a:t>
            </a:r>
            <a:br>
              <a:rPr lang="en-US" altLang="ko-KR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기술 </a:t>
            </a:r>
            <a:r>
              <a:rPr lang="ko-KR" altLang="en-US" sz="1100" spc="-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인텔리전스</a:t>
            </a: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 연구실</a:t>
            </a:r>
            <a:br>
              <a:rPr lang="en-US" altLang="ko-KR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</a:b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경제성분석 연구실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  <p:pic>
        <p:nvPicPr>
          <p:cNvPr id="24" name="그림 23" descr="상징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8B53B802-E9B4-9621-7CF4-F94E9684D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302" y="5540642"/>
            <a:ext cx="757073" cy="785535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9AD7F9E-EB47-11F6-3069-351191D31720}"/>
              </a:ext>
            </a:extLst>
          </p:cNvPr>
          <p:cNvCxnSpPr/>
          <p:nvPr/>
        </p:nvCxnSpPr>
        <p:spPr>
          <a:xfrm>
            <a:off x="3579090" y="0"/>
            <a:ext cx="0" cy="6858000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43BF02-91DA-B8F6-C5D9-B9BE8A3F362E}"/>
              </a:ext>
            </a:extLst>
          </p:cNvPr>
          <p:cNvSpPr txBox="1"/>
          <p:nvPr/>
        </p:nvSpPr>
        <p:spPr>
          <a:xfrm>
            <a:off x="4519201" y="5574689"/>
            <a:ext cx="2038828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130"/>
              </a:spcAft>
            </a:pP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이수인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r">
              <a:spcAft>
                <a:spcPts val="130"/>
              </a:spcAft>
            </a:pPr>
            <a:r>
              <a:rPr lang="ko-KR" altLang="en-US" sz="1100" spc="-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최우진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r">
              <a:spcAft>
                <a:spcPts val="130"/>
              </a:spcAft>
            </a:pPr>
            <a:r>
              <a:rPr lang="ko-KR" altLang="en-US" sz="1100" spc="-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문서영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  <a:p>
            <a:pPr algn="r">
              <a:spcAft>
                <a:spcPts val="130"/>
              </a:spcAft>
            </a:pPr>
            <a:r>
              <a:rPr lang="ko-KR" altLang="en-US" sz="1100" spc="-5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</a:rPr>
              <a:t>유정민</a:t>
            </a:r>
            <a:endParaRPr lang="en-US" altLang="ko-KR" sz="1100" spc="-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4113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661B-C66D-CA18-4B79-01A12215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90977D-FE64-49A9-9BCD-52547D43C02E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endParaRPr lang="ko-KR" altLang="en-US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CC6CC-6AF4-477A-B250-9D551E0B59EB}"/>
              </a:ext>
            </a:extLst>
          </p:cNvPr>
          <p:cNvSpPr txBox="1"/>
          <p:nvPr/>
        </p:nvSpPr>
        <p:spPr>
          <a:xfrm>
            <a:off x="3923469" y="2218360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1.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A97A5-0ED2-45F8-B84A-66BC74B7EDC6}"/>
              </a:ext>
            </a:extLst>
          </p:cNvPr>
          <p:cNvSpPr txBox="1"/>
          <p:nvPr/>
        </p:nvSpPr>
        <p:spPr>
          <a:xfrm>
            <a:off x="3923469" y="2796261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2. Related 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D5D854-4830-437C-B0AB-7090748D3C79}"/>
              </a:ext>
            </a:extLst>
          </p:cNvPr>
          <p:cNvSpPr txBox="1"/>
          <p:nvPr/>
        </p:nvSpPr>
        <p:spPr>
          <a:xfrm>
            <a:off x="3923469" y="3374162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3. Framework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80E8C-F3F2-4C09-AC75-9F486DCCC6BD}"/>
              </a:ext>
            </a:extLst>
          </p:cNvPr>
          <p:cNvSpPr txBox="1"/>
          <p:nvPr/>
        </p:nvSpPr>
        <p:spPr>
          <a:xfrm>
            <a:off x="3923469" y="3952063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4.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DF100E-8E55-4766-ADB0-F3019E1A4640}"/>
              </a:ext>
            </a:extLst>
          </p:cNvPr>
          <p:cNvSpPr txBox="1"/>
          <p:nvPr/>
        </p:nvSpPr>
        <p:spPr>
          <a:xfrm>
            <a:off x="3923469" y="4529964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5. Experiment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1C7CF3-9E74-4F2D-85C0-72B9D753D8D9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pic>
        <p:nvPicPr>
          <p:cNvPr id="2" name="그림 1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0AF9795C-8858-DCB1-9A11-5D8F8675EB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579091" cy="68580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DB84BA3-D950-FD60-FA4E-D24BD8536493}"/>
              </a:ext>
            </a:extLst>
          </p:cNvPr>
          <p:cNvCxnSpPr/>
          <p:nvPr/>
        </p:nvCxnSpPr>
        <p:spPr>
          <a:xfrm>
            <a:off x="3579090" y="0"/>
            <a:ext cx="0" cy="6858000"/>
          </a:xfrm>
          <a:prstGeom prst="line">
            <a:avLst/>
          </a:prstGeom>
          <a:ln w="19050" cap="rnd">
            <a:solidFill>
              <a:schemeClr val="bg1">
                <a:lumMod val="65000"/>
              </a:schemeClr>
            </a:solidFill>
            <a:prstDash val="sysDot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A2BE23-843E-0B89-663F-3DFE8440207F}"/>
              </a:ext>
            </a:extLst>
          </p:cNvPr>
          <p:cNvSpPr txBox="1"/>
          <p:nvPr/>
        </p:nvSpPr>
        <p:spPr>
          <a:xfrm>
            <a:off x="3923469" y="5107865"/>
            <a:ext cx="27965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spc="-20" dirty="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1A2E57"/>
                </a:solidFill>
                <a:latin typeface="프리젠테이션 7 Bold" pitchFamily="2" charset="-127"/>
                <a:ea typeface="프리젠테이션 7 Bold" pitchFamily="2" charset="-127"/>
                <a:cs typeface="+mj-cs"/>
              </a:rPr>
              <a:t>6. Conclusion</a:t>
            </a:r>
          </a:p>
        </p:txBody>
      </p:sp>
    </p:spTree>
    <p:extLst>
      <p:ext uri="{BB962C8B-B14F-4D97-AF65-F5344CB8AC3E}">
        <p14:creationId xmlns:p14="http://schemas.microsoft.com/office/powerpoint/2010/main" val="1589012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9661B-C66D-CA18-4B79-01A12215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8E4D07-9E87-06DE-9974-14BAFF7F38BF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ko-KR" altLang="en-US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AF143A-147A-B825-6A34-6EC9286AF7E2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A7976-A196-427F-B28E-21427D1256DD}"/>
              </a:ext>
            </a:extLst>
          </p:cNvPr>
          <p:cNvSpPr txBox="1"/>
          <p:nvPr/>
        </p:nvSpPr>
        <p:spPr>
          <a:xfrm>
            <a:off x="443035" y="1265169"/>
            <a:ext cx="9000000" cy="248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연구 배경</a:t>
            </a:r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1)  Patent Landscaping 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이란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?</a:t>
            </a:r>
            <a:endParaRPr lang="en-US" altLang="ko-KR" sz="1500" b="1" dirty="0">
              <a:solidFill>
                <a:prstClr val="black"/>
              </a:solidFill>
              <a:ea typeface="맑은 고딕" panose="020B0503020000020004" pitchFamily="34" charset="-127"/>
            </a:endParaRPr>
          </a:p>
          <a:p>
            <a:pPr marL="285750" lvl="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Patent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에 대한 단일하거나 보편적으로 인정되는 정의는 없음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(Trippe, 2015)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특정 기술 또는 기술 영역과 관련된 모든 특허를 식별하는 과정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(Abood &amp; Feltenberger, 2018; Choi et al., 2019; Erana &amp; Finlayson, 2024)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특정 기술의 특허 현황에 대한 스냅샷을 제공하는 과정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(Trippe, 2015)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기술 트렌드를 식별 및 기술 개요를 생성하는 과정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(van Rijn &amp; Timmis, 2023)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lvl="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본 연구에서는 선행연구의 논의에 따라 이를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‘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특정 주제와 관련된 특허를 식별하는 작업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’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으로 정의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80495-A239-8C39-9C75-EBDE39D64EDA}"/>
              </a:ext>
            </a:extLst>
          </p:cNvPr>
          <p:cNvSpPr txBox="1"/>
          <p:nvPr/>
        </p:nvSpPr>
        <p:spPr>
          <a:xfrm>
            <a:off x="443035" y="4124526"/>
            <a:ext cx="9000000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2)  ‘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기술 분류 트리 개발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’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 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vs ‘Patent Landscaping’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기술 분류 트리 개발은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이미 선별된 특허 집합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세부 기술 기준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(Function or Material 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etc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으로 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구조화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하는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작업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은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기술 분류 트리 개발에 선행하는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Task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로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선별된 특허 집합을 만드는 작업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코드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분류는 각 특허가 기존의 정의된 기술 카테고리 중 어디에 속하는지를 판단하는 작업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은 분류 체계를 따르는 것이 아니라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분석 의도에 맞게 검색 범위를 설계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하는 작업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201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AA68-888B-0966-3B19-392E10FA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09E7D41-2D0D-F898-DF1D-A6C0B8FDDAD0}"/>
              </a:ext>
            </a:extLst>
          </p:cNvPr>
          <p:cNvSpPr txBox="1"/>
          <p:nvPr/>
        </p:nvSpPr>
        <p:spPr>
          <a:xfrm>
            <a:off x="443035" y="1272484"/>
            <a:ext cx="9000000" cy="15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연구 동기</a:t>
            </a:r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endParaRPr lang="en-US" altLang="ko-KR" sz="1600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1) 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관련 기술 특허 선별의 중요성</a:t>
            </a:r>
            <a:endParaRPr lang="en" altLang="ko-KR" sz="1500" b="1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특허 관련 다양한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task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를 수행하기 위해 기술 관련 특허를 식별하고 수집하는 것은 핵심적임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(Madani &amp; Weber, 2016; 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Bergeaud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 et al., 2017)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기술 관련 특허를 잘 수집하여야 이후의 특허 분석 과정이 성공적으로 이루어질 수 있음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(Trippie, 2015; Ali et al., 2025)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F31F07-65CD-7694-5315-451F7B6010FF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ko-KR" altLang="en-US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260D57-E124-E1E5-FCDD-6D6DA0079A71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BDD84-1393-5E77-4C8E-CC933D6D5F9C}"/>
              </a:ext>
            </a:extLst>
          </p:cNvPr>
          <p:cNvSpPr txBox="1"/>
          <p:nvPr/>
        </p:nvSpPr>
        <p:spPr>
          <a:xfrm>
            <a:off x="443035" y="2911080"/>
            <a:ext cx="9000000" cy="1574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2) 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기존 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Patent Landscaping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의 한계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전문가의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수작업 역량에 크게 의존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해 왔으며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이로 인해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시간과 비용 측면의 한계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가 지속적으로 제기되어 왔음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 (Cypris, 2026)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기존의 규칙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키워드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기반으로 기술 특허를 수집하는 방식은 정교한 쿼리를 구성하는 데 많은 노력이 필요하며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Anthropic Sans"/>
                <a:ea typeface="프리젠테이션 6 SemiBold" pitchFamily="2" charset="-127"/>
              </a:rPr>
              <a:t>재현성 및 일관성이 떨어짐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A0A0A"/>
                </a:solidFill>
                <a:latin typeface="Anthropic Sans"/>
                <a:ea typeface="프리젠테이션 6 SemiBold" pitchFamily="2" charset="-127"/>
              </a:rPr>
              <a:t>(Tseng et al, 2007; Zaini et al., 2022)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altLang="ko-KR" sz="1600" dirty="0">
              <a:solidFill>
                <a:srgbClr val="0A0A0A"/>
              </a:solidFill>
              <a:latin typeface="Anthropic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33D9A7-EC43-3082-2857-7BE2885C5514}"/>
              </a:ext>
            </a:extLst>
          </p:cNvPr>
          <p:cNvSpPr txBox="1"/>
          <p:nvPr/>
        </p:nvSpPr>
        <p:spPr>
          <a:xfrm>
            <a:off x="443035" y="4262305"/>
            <a:ext cx="900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/>
            </a:pP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3) AI 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및 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LLM 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기반 </a:t>
            </a:r>
            <a:r>
              <a:rPr lang="en-US" altLang="ko-KR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Agent</a:t>
            </a:r>
            <a:r>
              <a:rPr lang="ko-KR" altLang="en-US" sz="15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를 활용한 개선 가능성</a:t>
            </a:r>
            <a:endParaRPr lang="en-US" altLang="ko-KR" sz="1500" dirty="0">
              <a:solidFill>
                <a:srgbClr val="0A0A0A"/>
              </a:solidFill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최근에는 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머신러닝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딥러닝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활용하여 기술 관련 특허를 식별하거나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Sofean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2026), 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 자동화하기 위한 다양한 연구가 제안되고 있음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(Abood &amp; Feltenberger, 2018; Erana &amp; Finlayson, 2024)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또한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LLM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기반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Agent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를 의사결정에 활용하는 연구가 지속적으로 등장하고 있음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Farrokhnia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et al.,2025)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Patent Landscaping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역시 본질적으로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이진 의사결정 문제라는 점에서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LLM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기반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Agent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활용에 적합한 과제로 판단되지만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이러한 접근이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에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직접적으로 적용된 사례는 제한적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endParaRPr lang="en-US" altLang="ko-KR" sz="1300" b="1" dirty="0"/>
          </a:p>
        </p:txBody>
      </p:sp>
    </p:spTree>
    <p:extLst>
      <p:ext uri="{BB962C8B-B14F-4D97-AF65-F5344CB8AC3E}">
        <p14:creationId xmlns:p14="http://schemas.microsoft.com/office/powerpoint/2010/main" val="3911608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BA7E-E10F-49C2-16F8-578C7C4B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2B86510-CF93-9C75-5F60-C1A55212628B}"/>
              </a:ext>
            </a:extLst>
          </p:cNvPr>
          <p:cNvSpPr txBox="1"/>
          <p:nvPr/>
        </p:nvSpPr>
        <p:spPr>
          <a:xfrm>
            <a:off x="443035" y="1272484"/>
            <a:ext cx="9000000" cy="1882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연구 목적</a:t>
            </a:r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endParaRPr lang="en-US" altLang="ko-KR" sz="10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따라서 본 연구는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특정 기술과 관련된 특허를 식별하기 위한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MAS(Multi Agent Systems)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기반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Patent Landscaping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프레임워크 개발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하고자 함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구체적으로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기술 관련 특허를 </a:t>
            </a:r>
            <a:r>
              <a:rPr lang="ko-KR" altLang="en-US" sz="15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라벨링하는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 과정에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Multi Agent Debate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를 활용하여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해당 과정에서 요구되는 비용과 시간을 줄이고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특허 분류 과정의 정확성 및 설명가능성을 동시에 만족하는 프로세스를 제안하고자 함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E0BA6B-0B23-00C7-CB1F-5F7E14B23316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lang="ko-KR" altLang="en-US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021C13-19C0-071F-6F98-F624642181CA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7595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93DC0-FCD2-47C0-DEF8-663AEEDF9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B439307-D3A5-1765-B40C-A4AFE11B9106}"/>
              </a:ext>
            </a:extLst>
          </p:cNvPr>
          <p:cNvSpPr txBox="1"/>
          <p:nvPr/>
        </p:nvSpPr>
        <p:spPr>
          <a:xfrm>
            <a:off x="443035" y="1272484"/>
            <a:ext cx="900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전문가</a:t>
            </a:r>
            <a:r>
              <a:rPr lang="en-US" altLang="ko-KR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/</a:t>
            </a:r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규칙 기반 특허 선별</a:t>
            </a:r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pPr>
              <a:spcAft>
                <a:spcPts val="800"/>
              </a:spcAft>
              <a:defRPr/>
            </a:pPr>
            <a:endParaRPr lang="en-US" altLang="ko-KR" sz="10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lvl="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기술 관련 특허 선별 과정은 전문가 판단이나 키워드 및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IPC/CPC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코드 기준 분류를 활용하였음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(Eisinger et al., 2013; Krier &amp; Zacca; MA et al., 2009)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EPO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와 협력하여 기술 특허 식별을 위한 키워드와 특정 기술 클래스 코드를 조합한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Search formula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및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query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를 설계하고 특허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pool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을 구축함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(Clarke, 2020)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키워드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분류코드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연도 등의 필터를 반복적으로 조정하여 기술 관련 특허 집합을 확보함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  <a:sym typeface="Wingdings" panose="05000000000000000000" pitchFamily="2" charset="2"/>
              </a:rPr>
              <a:t>(van Rijn &amp; Timmis, 2023)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42F2BF-ED32-555E-4AA6-B50E320F462D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Related Works</a:t>
            </a:r>
            <a:endParaRPr lang="ko-KR" altLang="en-US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8F738-10D3-4395-E9F3-83C31441CD1C}"/>
              </a:ext>
            </a:extLst>
          </p:cNvPr>
          <p:cNvSpPr txBox="1"/>
          <p:nvPr/>
        </p:nvSpPr>
        <p:spPr>
          <a:xfrm>
            <a:off x="509101" y="455232"/>
            <a:ext cx="3600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36829-3FEA-89B1-9E00-11748005B33C}"/>
              </a:ext>
            </a:extLst>
          </p:cNvPr>
          <p:cNvSpPr txBox="1"/>
          <p:nvPr/>
        </p:nvSpPr>
        <p:spPr>
          <a:xfrm>
            <a:off x="453000" y="3508144"/>
            <a:ext cx="900000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머신러닝</a:t>
            </a:r>
            <a:r>
              <a:rPr lang="en-US" altLang="ko-KR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/</a:t>
            </a:r>
            <a:r>
              <a:rPr lang="ko-KR" altLang="en-US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ea typeface="프리젠테이션 8 ExtraBold" pitchFamily="2" charset="-127"/>
              </a:rPr>
              <a:t>딥러닝 기반 특허 선별</a:t>
            </a:r>
            <a:endParaRPr lang="en-US" altLang="ko-KR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ea typeface="프리젠테이션 8 ExtraBold" pitchFamily="2" charset="-127"/>
            </a:endParaRPr>
          </a:p>
          <a:p>
            <a:pPr lvl="1">
              <a:spcAft>
                <a:spcPts val="800"/>
              </a:spcAft>
              <a:defRPr/>
            </a:pPr>
            <a:endParaRPr lang="en-US" altLang="ko-KR" sz="10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전문가들이 기술 관련 특허라고 선별한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Seed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데이터를 인용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/CPC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관계 기반으로 확장하고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ML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모델을 학습하는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automated 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 제안함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(Abood &amp; Feltenberger, 2018)</a:t>
            </a:r>
          </a:p>
          <a:p>
            <a:pPr marL="742950" lvl="1" indent="-285750">
              <a:spcAft>
                <a:spcPts val="800"/>
              </a:spcAft>
              <a:buFont typeface="Wingdings" panose="05000000000000000000" pitchFamily="2" charset="2"/>
              <a:buChar char="à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이후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Seed/Anti-seed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기반 접근을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Active Learning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과 결합하여 분류가 애매한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boundary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부근의 특허 데이터 확보를 통해 향상된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automated patent landscaping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 제안함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(Erana &amp; Finlayson, 2024) 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텍스트와 분류 코드에 대해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Transformer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Graph Embedding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기반 딥러닝 모델을 활용하여 특허를 자동으로 분류하는 방법을 제안함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(Choi et al., 2022)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Weak Supervision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및 딥러닝 모델을 활용하여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Cyber Security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Plasma Physics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도메인 특허를 자동 분류함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Sofean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2026)</a:t>
            </a:r>
          </a:p>
        </p:txBody>
      </p:sp>
    </p:spTree>
    <p:extLst>
      <p:ext uri="{BB962C8B-B14F-4D97-AF65-F5344CB8AC3E}">
        <p14:creationId xmlns:p14="http://schemas.microsoft.com/office/powerpoint/2010/main" val="393920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F598A-D492-3DFF-D4DB-CDC1F550D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DC56A-F8D1-2A88-A7DA-D6F736EF1419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Related Works</a:t>
            </a:r>
            <a:endParaRPr lang="ko-KR" altLang="en-US" sz="20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E7F67-9CB1-F246-1F00-361E8A47F6B1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101E681-3582-6359-9A63-6CEC527FD80A}"/>
              </a:ext>
            </a:extLst>
          </p:cNvPr>
          <p:cNvSpPr/>
          <p:nvPr/>
        </p:nvSpPr>
        <p:spPr>
          <a:xfrm>
            <a:off x="509102" y="1492815"/>
            <a:ext cx="8786484" cy="467031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E292014-777B-6718-F984-6F32EC692279}"/>
              </a:ext>
            </a:extLst>
          </p:cNvPr>
          <p:cNvGrpSpPr/>
          <p:nvPr/>
        </p:nvGrpSpPr>
        <p:grpSpPr>
          <a:xfrm>
            <a:off x="577849" y="1622605"/>
            <a:ext cx="8500523" cy="335817"/>
            <a:chOff x="698137" y="2752901"/>
            <a:chExt cx="2584181" cy="33581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D5CE49-B5D6-CFD4-649E-92D5665F1F5B}"/>
                </a:ext>
              </a:extLst>
            </p:cNvPr>
            <p:cNvSpPr/>
            <p:nvPr/>
          </p:nvSpPr>
          <p:spPr>
            <a:xfrm rot="17472">
              <a:off x="698137" y="2752901"/>
              <a:ext cx="2584181" cy="335817"/>
            </a:xfrm>
            <a:prstGeom prst="rect">
              <a:avLst/>
            </a:prstGeom>
            <a:solidFill>
              <a:srgbClr val="1A2E5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6F9DC9-0792-3E73-AFDC-F917FED362AD}"/>
                </a:ext>
              </a:extLst>
            </p:cNvPr>
            <p:cNvSpPr txBox="1"/>
            <p:nvPr/>
          </p:nvSpPr>
          <p:spPr>
            <a:xfrm rot="17472">
              <a:off x="769050" y="2822435"/>
              <a:ext cx="2468299" cy="184666"/>
            </a:xfrm>
            <a:prstGeom prst="rect">
              <a:avLst/>
            </a:prstGeom>
            <a:solidFill>
              <a:srgbClr val="1A2E57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12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✓ </a:t>
              </a:r>
              <a:r>
                <a:rPr lang="en-US" altLang="ko-KR" sz="12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Identification of domain-relevant patents via weekly supervised deep learning (</a:t>
              </a:r>
              <a:r>
                <a:rPr lang="en-US" altLang="ko-KR" sz="1200" b="1" spc="-30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Sofean</a:t>
              </a:r>
              <a:r>
                <a:rPr lang="en-US" altLang="ko-KR" sz="1200" b="1" spc="-3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프리젠테이션 6 SemiBold" pitchFamily="2" charset="-127"/>
                  <a:ea typeface="프리젠테이션 6 SemiBold" pitchFamily="2" charset="-127"/>
                </a:rPr>
                <a:t>, 2026)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BF55025-6C12-CDF7-FCE9-F6F6731FF0A7}"/>
              </a:ext>
            </a:extLst>
          </p:cNvPr>
          <p:cNvSpPr txBox="1"/>
          <p:nvPr/>
        </p:nvSpPr>
        <p:spPr>
          <a:xfrm>
            <a:off x="587995" y="2151773"/>
            <a:ext cx="8481066" cy="401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Weak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Supervision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과 </a:t>
            </a:r>
            <a:r>
              <a:rPr lang="ko-KR" altLang="en-US" sz="1200" b="1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딥러닝을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활용해 특정 기술 분야와 관련된 특허를 자동으로 식별하는 방법을 제안한 연구</a:t>
            </a:r>
            <a:endParaRPr lang="en-US" altLang="ko-KR" sz="1200" b="1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spcAft>
                <a:spcPts val="800"/>
              </a:spcAft>
            </a:pPr>
            <a:endParaRPr lang="ko-KR" altLang="en-US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Labeling Functions (LF)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및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Snorkel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기반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Weak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Supervision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 통해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Training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데이터에 대해 기술 관련 특허 </a:t>
            </a:r>
            <a:r>
              <a:rPr lang="ko-KR" altLang="en-US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라벨링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Labeling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Functions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(LF)</a:t>
            </a: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규칙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휴리스틱을 통해 데이터에 라벨을 부여하는 함수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‘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텍스트 내 키워드 포함 여부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’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와 같은 규칙 기반 </a:t>
            </a:r>
            <a:r>
              <a:rPr lang="ko-KR" altLang="en-US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라벨링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ex. </a:t>
            </a:r>
            <a:r>
              <a:rPr lang="en-US" altLang="ko-KR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if_plasma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en-US" altLang="ko-KR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if_not_plasma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en-US" altLang="ko-KR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if_blood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-plasma,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if_not_blood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-plasma</a:t>
            </a:r>
          </a:p>
          <a:p>
            <a:pPr marL="800100" lvl="1" indent="-342900">
              <a:spcAft>
                <a:spcPts val="800"/>
              </a:spcAft>
              <a:buFont typeface="+mj-ea"/>
              <a:buAutoNum type="circleNumDbPlain"/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Snorkel</a:t>
            </a: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여러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LF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가 만든 불완전하거나 충돌하는 라벨을 확률적으로 통합해 학습용 라벨 데이터로 변환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작성된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LF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라벨링은 서로 겹치거나 충돌할 수 있음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spcAft>
                <a:spcPts val="800"/>
              </a:spcAft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	-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이를 보완하기 위해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LF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함수들의 출력 간의 합의와 불일치를 분석하여 생성 모델을 학습시킴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Weak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Supervision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을 통해 학습된 데이터에 대해 </a:t>
            </a:r>
            <a:r>
              <a:rPr lang="en-US" altLang="ko-KR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SciBERT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모델 </a:t>
            </a:r>
            <a:r>
              <a:rPr lang="ko-KR" altLang="en-US" sz="12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파인튜닝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후 예측 성능 비교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>
              <a:spcAft>
                <a:spcPts val="800"/>
              </a:spcAft>
            </a:pP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우리의 연구는 학습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데이터를 </a:t>
            </a:r>
            <a:r>
              <a:rPr lang="ko-KR" altLang="en-US" sz="1200" b="1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라벨링할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때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LF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Snorkel 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기반 접근 대신 </a:t>
            </a:r>
            <a:r>
              <a:rPr lang="en-US" altLang="ko-KR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MAS </a:t>
            </a:r>
            <a:r>
              <a:rPr lang="ko-KR" altLang="en-US" sz="1200" b="1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시스템을 활용하여 기술 관련 특허를 </a:t>
            </a:r>
            <a:r>
              <a:rPr lang="ko-KR" altLang="en-US" sz="1200" b="1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라벨링</a:t>
            </a:r>
            <a:endParaRPr lang="en-US" altLang="ko-KR" sz="1200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215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AE00-408C-E91A-AC2E-BA9954A7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03486-94BE-14E6-8110-4DD7647A75C4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Proposed Method</a:t>
            </a:r>
            <a:endParaRPr lang="en-US" altLang="ko-KR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894E4-1EAC-5CB0-B537-8A003D994429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67E4A2D-6AB9-D1A0-48B7-B174F2DCF3B7}"/>
              </a:ext>
            </a:extLst>
          </p:cNvPr>
          <p:cNvSpPr/>
          <p:nvPr/>
        </p:nvSpPr>
        <p:spPr>
          <a:xfrm>
            <a:off x="4394451" y="1781362"/>
            <a:ext cx="2158738" cy="65987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Domain-Specific Search Query</a:t>
            </a:r>
            <a:endParaRPr lang="ko-KR" altLang="en-US" sz="1600" b="1" dirty="0"/>
          </a:p>
        </p:txBody>
      </p:sp>
      <p:sp>
        <p:nvSpPr>
          <p:cNvPr id="9" name="원통형 8">
            <a:extLst>
              <a:ext uri="{FF2B5EF4-FFF2-40B4-BE49-F238E27FC236}">
                <a16:creationId xmlns:a16="http://schemas.microsoft.com/office/drawing/2014/main" id="{F3D415B7-B047-0278-1916-3405CB97302A}"/>
              </a:ext>
            </a:extLst>
          </p:cNvPr>
          <p:cNvSpPr/>
          <p:nvPr/>
        </p:nvSpPr>
        <p:spPr>
          <a:xfrm>
            <a:off x="6997852" y="1728683"/>
            <a:ext cx="1994480" cy="76523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Domain-Specific Patents</a:t>
            </a:r>
            <a:endParaRPr lang="ko-KR" altLang="en-US" sz="1600" b="1" dirty="0"/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CE5A8466-35D9-B701-ACB2-1FB5EBDC6748}"/>
              </a:ext>
            </a:extLst>
          </p:cNvPr>
          <p:cNvSpPr/>
          <p:nvPr/>
        </p:nvSpPr>
        <p:spPr>
          <a:xfrm>
            <a:off x="2399971" y="1818914"/>
            <a:ext cx="1380952" cy="584775"/>
          </a:xfrm>
          <a:prstGeom prst="ca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USPTO</a:t>
            </a:r>
            <a:endParaRPr lang="ko-KR" altLang="en-US" sz="1600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D30F8B7-FF7E-C290-9404-BE82F2A372CC}"/>
              </a:ext>
            </a:extLst>
          </p:cNvPr>
          <p:cNvSpPr/>
          <p:nvPr/>
        </p:nvSpPr>
        <p:spPr>
          <a:xfrm>
            <a:off x="4680332" y="3429000"/>
            <a:ext cx="4394051" cy="2055047"/>
          </a:xfrm>
          <a:prstGeom prst="roundRect">
            <a:avLst/>
          </a:prstGeom>
          <a:ln w="19050"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504D73-4679-1151-ECC0-8E8BF40F837D}"/>
              </a:ext>
            </a:extLst>
          </p:cNvPr>
          <p:cNvSpPr txBox="1"/>
          <p:nvPr/>
        </p:nvSpPr>
        <p:spPr>
          <a:xfrm>
            <a:off x="7135070" y="4949658"/>
            <a:ext cx="2026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Weak Supervision</a:t>
            </a:r>
            <a:endParaRPr lang="ko-KR" altLang="en-US" sz="1600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5B71C49-42E3-6667-D048-B9A0C091D7CE}"/>
              </a:ext>
            </a:extLst>
          </p:cNvPr>
          <p:cNvSpPr/>
          <p:nvPr/>
        </p:nvSpPr>
        <p:spPr>
          <a:xfrm>
            <a:off x="7210006" y="3866266"/>
            <a:ext cx="1519215" cy="104681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MAS</a:t>
            </a:r>
            <a:endParaRPr lang="ko-KR" altLang="en-US" b="1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A9455F2-012F-42AF-B065-ED5B7D71F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132" y="3866266"/>
            <a:ext cx="503383" cy="50338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620A1C4-8747-12E9-F954-B711F6C70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190" y="3866266"/>
            <a:ext cx="503383" cy="503383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78A39D9-A9DB-4213-E4EB-ECD36565D430}"/>
              </a:ext>
            </a:extLst>
          </p:cNvPr>
          <p:cNvCxnSpPr>
            <a:cxnSpLocks/>
            <a:stCxn id="10" idx="4"/>
            <a:endCxn id="8" idx="1"/>
          </p:cNvCxnSpPr>
          <p:nvPr/>
        </p:nvCxnSpPr>
        <p:spPr>
          <a:xfrm flipV="1">
            <a:off x="3780923" y="2111301"/>
            <a:ext cx="61352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AD792DB-31F4-CCD2-39E4-17B06F84CB53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 flipV="1">
            <a:off x="6553189" y="2111300"/>
            <a:ext cx="44466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5A9C964-CDA3-7203-ABA7-A4404774216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995092" y="2493917"/>
            <a:ext cx="0" cy="9175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순서도: 카드 34">
            <a:extLst>
              <a:ext uri="{FF2B5EF4-FFF2-40B4-BE49-F238E27FC236}">
                <a16:creationId xmlns:a16="http://schemas.microsoft.com/office/drawing/2014/main" id="{354B38BB-48DF-7D3E-FC71-2A06B98DF586}"/>
              </a:ext>
            </a:extLst>
          </p:cNvPr>
          <p:cNvSpPr/>
          <p:nvPr/>
        </p:nvSpPr>
        <p:spPr>
          <a:xfrm>
            <a:off x="4756212" y="4060013"/>
            <a:ext cx="1144898" cy="360766"/>
          </a:xfrm>
          <a:prstGeom prst="flowChartPunchedCar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순서도: 카드 37">
            <a:extLst>
              <a:ext uri="{FF2B5EF4-FFF2-40B4-BE49-F238E27FC236}">
                <a16:creationId xmlns:a16="http://schemas.microsoft.com/office/drawing/2014/main" id="{3509898D-DE23-156B-75EF-D39CC328132F}"/>
              </a:ext>
            </a:extLst>
          </p:cNvPr>
          <p:cNvSpPr/>
          <p:nvPr/>
        </p:nvSpPr>
        <p:spPr>
          <a:xfrm>
            <a:off x="4825006" y="4150640"/>
            <a:ext cx="1144898" cy="360766"/>
          </a:xfrm>
          <a:prstGeom prst="flowChartPunchedCar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순서도: 카드 38">
            <a:extLst>
              <a:ext uri="{FF2B5EF4-FFF2-40B4-BE49-F238E27FC236}">
                <a16:creationId xmlns:a16="http://schemas.microsoft.com/office/drawing/2014/main" id="{04606D53-385A-A750-9EF0-83C8CA4F2597}"/>
              </a:ext>
            </a:extLst>
          </p:cNvPr>
          <p:cNvSpPr/>
          <p:nvPr/>
        </p:nvSpPr>
        <p:spPr>
          <a:xfrm>
            <a:off x="4948008" y="4273916"/>
            <a:ext cx="1144898" cy="360766"/>
          </a:xfrm>
          <a:prstGeom prst="flowChartPunchedCar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카드 39">
            <a:extLst>
              <a:ext uri="{FF2B5EF4-FFF2-40B4-BE49-F238E27FC236}">
                <a16:creationId xmlns:a16="http://schemas.microsoft.com/office/drawing/2014/main" id="{9EE0062C-E6B8-28C8-E6BE-AD372B874032}"/>
              </a:ext>
            </a:extLst>
          </p:cNvPr>
          <p:cNvSpPr/>
          <p:nvPr/>
        </p:nvSpPr>
        <p:spPr>
          <a:xfrm>
            <a:off x="5141320" y="4406747"/>
            <a:ext cx="1144898" cy="360766"/>
          </a:xfrm>
          <a:prstGeom prst="flowChartPunchedCar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3A32A9-7905-190F-3CE4-0583D173D446}"/>
              </a:ext>
            </a:extLst>
          </p:cNvPr>
          <p:cNvSpPr txBox="1"/>
          <p:nvPr/>
        </p:nvSpPr>
        <p:spPr>
          <a:xfrm>
            <a:off x="4839184" y="4949658"/>
            <a:ext cx="1576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Training Dataset</a:t>
            </a:r>
            <a:endParaRPr lang="ko-KR" altLang="en-US" sz="1600" b="1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99DF3B0-922E-1124-A738-E1E0E13D6B0A}"/>
              </a:ext>
            </a:extLst>
          </p:cNvPr>
          <p:cNvSpPr/>
          <p:nvPr/>
        </p:nvSpPr>
        <p:spPr>
          <a:xfrm>
            <a:off x="1748101" y="3429000"/>
            <a:ext cx="2278920" cy="2055047"/>
          </a:xfrm>
          <a:prstGeom prst="roundRect">
            <a:avLst/>
          </a:prstGeom>
          <a:ln w="19050">
            <a:prstDash val="lg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94E8B27-CC1B-7FF4-4FC2-C6606799055C}"/>
              </a:ext>
            </a:extLst>
          </p:cNvPr>
          <p:cNvCxnSpPr>
            <a:cxnSpLocks/>
            <a:stCxn id="11" idx="1"/>
            <a:endCxn id="49" idx="3"/>
          </p:cNvCxnSpPr>
          <p:nvPr/>
        </p:nvCxnSpPr>
        <p:spPr>
          <a:xfrm flipH="1">
            <a:off x="4027021" y="4456524"/>
            <a:ext cx="65331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그림 62">
            <a:extLst>
              <a:ext uri="{FF2B5EF4-FFF2-40B4-BE49-F238E27FC236}">
                <a16:creationId xmlns:a16="http://schemas.microsoft.com/office/drawing/2014/main" id="{E3022932-0A24-FDA8-055D-5ADE793D7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877225" y="3856267"/>
            <a:ext cx="2000549" cy="98657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69B433F-9810-41B2-359F-F1AFB829DBAE}"/>
              </a:ext>
            </a:extLst>
          </p:cNvPr>
          <p:cNvSpPr txBox="1"/>
          <p:nvPr/>
        </p:nvSpPr>
        <p:spPr>
          <a:xfrm>
            <a:off x="1984439" y="4949658"/>
            <a:ext cx="1786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Fine-tuning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Model</a:t>
            </a:r>
            <a:endParaRPr lang="ko-KR" altLang="en-US" sz="1600" b="1" dirty="0"/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7EA3728F-A007-617F-984D-D498D912F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90725" y="3974105"/>
            <a:ext cx="975553" cy="97555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C4CA54BD-95A7-E99C-AF6D-09DBE7EF64E8}"/>
              </a:ext>
            </a:extLst>
          </p:cNvPr>
          <p:cNvSpPr txBox="1"/>
          <p:nvPr/>
        </p:nvSpPr>
        <p:spPr>
          <a:xfrm>
            <a:off x="267132" y="4949658"/>
            <a:ext cx="122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DL-Model</a:t>
            </a:r>
            <a:endParaRPr lang="ko-KR" altLang="en-US" sz="1600" b="1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CE74FA3-CE27-DCEC-0C45-2C37C44A7D24}"/>
              </a:ext>
            </a:extLst>
          </p:cNvPr>
          <p:cNvCxnSpPr>
            <a:cxnSpLocks/>
            <a:stCxn id="49" idx="1"/>
            <a:endCxn id="72" idx="1"/>
          </p:cNvCxnSpPr>
          <p:nvPr/>
        </p:nvCxnSpPr>
        <p:spPr>
          <a:xfrm flipH="1">
            <a:off x="1166278" y="4456524"/>
            <a:ext cx="581823" cy="5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화살표: 아래쪽 85">
            <a:extLst>
              <a:ext uri="{FF2B5EF4-FFF2-40B4-BE49-F238E27FC236}">
                <a16:creationId xmlns:a16="http://schemas.microsoft.com/office/drawing/2014/main" id="{47B697D8-7680-76D6-E441-AD78EDF15DFF}"/>
              </a:ext>
            </a:extLst>
          </p:cNvPr>
          <p:cNvSpPr/>
          <p:nvPr/>
        </p:nvSpPr>
        <p:spPr>
          <a:xfrm rot="5400000">
            <a:off x="6254965" y="4264181"/>
            <a:ext cx="820228" cy="518764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25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AE00-408C-E91A-AC2E-BA9954A7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03486-94BE-14E6-8110-4DD7647A75C4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Framework</a:t>
            </a:r>
            <a:endParaRPr lang="en-US" altLang="ko-KR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894E4-1EAC-5CB0-B537-8A003D994429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8362CD-F559-4944-0F9D-042C29A43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2" b="14789"/>
          <a:stretch/>
        </p:blipFill>
        <p:spPr>
          <a:xfrm>
            <a:off x="682395" y="1397799"/>
            <a:ext cx="8831129" cy="453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9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AE00-408C-E91A-AC2E-BA9954A7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03486-94BE-14E6-8110-4DD7647A75C4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Framework</a:t>
            </a:r>
            <a:endParaRPr lang="en-US" altLang="ko-KR" sz="3200" b="1" spc="-6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12D8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894E4-1EAC-5CB0-B537-8A003D994429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D92C86-F8C3-2360-6F3E-C32E047FC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07"/>
          <a:stretch/>
        </p:blipFill>
        <p:spPr>
          <a:xfrm>
            <a:off x="2875571" y="1187450"/>
            <a:ext cx="4456117" cy="501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89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C8478-3312-C6DF-D6C1-39E5A128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646DC91-B369-ACBA-18CE-1CCAFA770D95}"/>
              </a:ext>
            </a:extLst>
          </p:cNvPr>
          <p:cNvSpPr txBox="1"/>
          <p:nvPr/>
        </p:nvSpPr>
        <p:spPr>
          <a:xfrm>
            <a:off x="443035" y="1272484"/>
            <a:ext cx="9000000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4</a:t>
            </a:r>
            <a:r>
              <a:rPr lang="en-US" altLang="ko-KR" sz="1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-1. Snorkel </a:t>
            </a:r>
            <a:r>
              <a:rPr lang="ko-KR" altLang="en-US" sz="1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구현을 위한 </a:t>
            </a:r>
            <a:r>
              <a:rPr lang="en-US" altLang="ko-KR" sz="1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LF </a:t>
            </a:r>
            <a:r>
              <a:rPr lang="ko-KR" altLang="en-US" sz="18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규칙 </a:t>
            </a:r>
            <a:r>
              <a:rPr lang="ko-KR" altLang="en-US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정의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6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가지 분야 각각에 아래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2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가지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LF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조건을 만듦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(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현재는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Self Driving Vehicle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에 대해서만 수행한다고 가정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)</a:t>
            </a:r>
          </a:p>
          <a:p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LF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규칙 </a:t>
            </a:r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1 - 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해당 특허의 초록에 키워드들 중 하나 이상 포함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  <a:p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LF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규칙 </a:t>
            </a:r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2 - 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해당 특허의 </a:t>
            </a:r>
            <a:r>
              <a:rPr 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CPC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코드에 아래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CPC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 중 하나 이상 포함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  <a:p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  <a:p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자세한 내용은 </a:t>
            </a:r>
            <a:r>
              <a:rPr lang="ko-KR" altLang="en-US" sz="15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노션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-0613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최종정리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‘Gold Label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수집 기준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.pdf’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ea typeface="프리젠테이션 6 SemiBold" pitchFamily="2" charset="-127"/>
              </a:rPr>
              <a:t>파일 참조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1B8C2D-5119-90CF-6B63-78E74D5D3B1C}"/>
              </a:ext>
            </a:extLst>
          </p:cNvPr>
          <p:cNvSpPr txBox="1"/>
          <p:nvPr/>
        </p:nvSpPr>
        <p:spPr>
          <a:xfrm>
            <a:off x="509101" y="455232"/>
            <a:ext cx="360000" cy="50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07A307-53D4-4C91-BCF1-D867BC6FC712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E211705-F2FB-4FA1-A8CC-6742CFD27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63" y="3187654"/>
            <a:ext cx="4655897" cy="9853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E398A4-2683-5EE6-DDCF-D9A45681BC2B}"/>
              </a:ext>
            </a:extLst>
          </p:cNvPr>
          <p:cNvSpPr txBox="1"/>
          <p:nvPr/>
        </p:nvSpPr>
        <p:spPr>
          <a:xfrm>
            <a:off x="1225485" y="5184742"/>
            <a:ext cx="167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키워드 목록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E1A87-FD96-D702-6DEE-C1085F261163}"/>
              </a:ext>
            </a:extLst>
          </p:cNvPr>
          <p:cNvSpPr txBox="1"/>
          <p:nvPr/>
        </p:nvSpPr>
        <p:spPr>
          <a:xfrm>
            <a:off x="6628255" y="5184742"/>
            <a:ext cx="1677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CPC</a:t>
            </a:r>
            <a:r>
              <a:rPr lang="ko-KR" altLang="en-US" dirty="0"/>
              <a:t> 목록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763A188-22E5-6705-AF66-71521BBC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247" y="3187654"/>
            <a:ext cx="3343879" cy="164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4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C4CE-3E0F-400F-CFF9-F92D01E35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A564630-FFB1-87CB-9BA1-D1910BF4D163}"/>
              </a:ext>
            </a:extLst>
          </p:cNvPr>
          <p:cNvSpPr txBox="1"/>
          <p:nvPr/>
        </p:nvSpPr>
        <p:spPr>
          <a:xfrm>
            <a:off x="443035" y="1272484"/>
            <a:ext cx="90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.</a:t>
            </a: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ea typeface="프리젠테이션 6 Semi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CE03BD-4254-4670-DAC5-B59889957630}"/>
              </a:ext>
            </a:extLst>
          </p:cNvPr>
          <p:cNvSpPr txBox="1"/>
          <p:nvPr/>
        </p:nvSpPr>
        <p:spPr>
          <a:xfrm>
            <a:off x="509101" y="455232"/>
            <a:ext cx="3600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0F6C82-6E5A-F8FA-4B42-A5CF49EA6F75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Experiment</a:t>
            </a:r>
          </a:p>
        </p:txBody>
      </p:sp>
    </p:spTree>
    <p:extLst>
      <p:ext uri="{BB962C8B-B14F-4D97-AF65-F5344CB8AC3E}">
        <p14:creationId xmlns:p14="http://schemas.microsoft.com/office/powerpoint/2010/main" val="192666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FDED8-F7E4-E152-6C42-5C2A4D4A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7FA8F4E-2F59-70E9-5BC7-0B97C774AA71}"/>
              </a:ext>
            </a:extLst>
          </p:cNvPr>
          <p:cNvSpPr txBox="1"/>
          <p:nvPr/>
        </p:nvSpPr>
        <p:spPr>
          <a:xfrm>
            <a:off x="443035" y="1272484"/>
            <a:ext cx="8821317" cy="2142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t>기여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  <a:p>
            <a:pPr marL="228600" indent="-22860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Concept 2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Router-Agent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성능을 평가한 결과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Router Agent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Routing accuracy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가 약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0.33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으로 역할을 하지 못하고 있어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추후 이를 조정할 필요가 있음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marL="228600" indent="-22860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endParaRPr lang="en-US" altLang="ko-KR" sz="15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28600" lvl="0" indent="-22860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ko-KR" altLang="en-US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34" charset="-127"/>
              </a:rPr>
              <a:t>한계 및 개선점</a:t>
            </a:r>
            <a:endParaRPr lang="en-US" altLang="ko-KR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34" charset="-127"/>
            </a:endParaRPr>
          </a:p>
          <a:p>
            <a:pPr marL="228600" indent="-228600" defTabSz="914400"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Concept 2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Router-Agent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성능을 평가한 결과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, Router Agent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의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Routing accuracy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가 약 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0.33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으로 역할을 하지 못하고 있어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추후 이를 조정할 필요가 있음</a:t>
            </a:r>
            <a:r>
              <a:rPr lang="en-US" altLang="ko-KR" sz="1500" spc="-3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333036-BD11-8AC1-4964-2732CAF44C39}"/>
              </a:ext>
            </a:extLst>
          </p:cNvPr>
          <p:cNvSpPr txBox="1"/>
          <p:nvPr/>
        </p:nvSpPr>
        <p:spPr>
          <a:xfrm>
            <a:off x="509101" y="455232"/>
            <a:ext cx="36000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8645A8-C47A-4825-9702-5E68A0C9FD2D}"/>
              </a:ext>
            </a:extLst>
          </p:cNvPr>
          <p:cNvSpPr txBox="1"/>
          <p:nvPr/>
        </p:nvSpPr>
        <p:spPr>
          <a:xfrm>
            <a:off x="900335" y="453233"/>
            <a:ext cx="83952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spc="-6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12D8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B7971C38-D009-567C-96AF-CF0E2CD2EEF3}"/>
              </a:ext>
            </a:extLst>
          </p:cNvPr>
          <p:cNvSpPr/>
          <p:nvPr/>
        </p:nvSpPr>
        <p:spPr>
          <a:xfrm>
            <a:off x="4764505" y="4079753"/>
            <a:ext cx="57272" cy="57272"/>
          </a:xfrm>
          <a:prstGeom prst="ellipse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DB1A91B-BCCF-A25F-FBD0-F73779116138}"/>
              </a:ext>
            </a:extLst>
          </p:cNvPr>
          <p:cNvSpPr/>
          <p:nvPr/>
        </p:nvSpPr>
        <p:spPr>
          <a:xfrm>
            <a:off x="4764505" y="4232153"/>
            <a:ext cx="57272" cy="57272"/>
          </a:xfrm>
          <a:prstGeom prst="ellipse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6265983-A7B5-ADF8-0360-3DFBA0EA5E46}"/>
              </a:ext>
            </a:extLst>
          </p:cNvPr>
          <p:cNvSpPr/>
          <p:nvPr/>
        </p:nvSpPr>
        <p:spPr>
          <a:xfrm>
            <a:off x="4764505" y="4384553"/>
            <a:ext cx="57272" cy="57272"/>
          </a:xfrm>
          <a:prstGeom prst="ellipse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F3B614A-9B06-EDB5-0620-AC35FE22A4E2}"/>
              </a:ext>
            </a:extLst>
          </p:cNvPr>
          <p:cNvSpPr/>
          <p:nvPr/>
        </p:nvSpPr>
        <p:spPr>
          <a:xfrm>
            <a:off x="4764505" y="4536953"/>
            <a:ext cx="57272" cy="57272"/>
          </a:xfrm>
          <a:prstGeom prst="ellipse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304EED-F094-2925-BB51-284416718B0D}"/>
              </a:ext>
            </a:extLst>
          </p:cNvPr>
          <p:cNvSpPr txBox="1"/>
          <p:nvPr/>
        </p:nvSpPr>
        <p:spPr>
          <a:xfrm>
            <a:off x="2969033" y="5107545"/>
            <a:ext cx="3967933" cy="343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향후 제대로 된 실험 계획을 수립하여 추가 실험 예정</a:t>
            </a:r>
            <a:endParaRPr lang="id-ID" altLang="ko-KR" sz="16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8015A-697E-CFC7-D329-89781D14FC7D}"/>
              </a:ext>
            </a:extLst>
          </p:cNvPr>
          <p:cNvSpPr txBox="1"/>
          <p:nvPr/>
        </p:nvSpPr>
        <p:spPr>
          <a:xfrm>
            <a:off x="4296753" y="4664384"/>
            <a:ext cx="1022131" cy="280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너무 많아 생략</a:t>
            </a:r>
            <a:r>
              <a:rPr lang="en-US" altLang="ko-KR" sz="12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id-ID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9" name="그래픽 8" descr="확인 표시 단색으로 채워진">
            <a:extLst>
              <a:ext uri="{FF2B5EF4-FFF2-40B4-BE49-F238E27FC236}">
                <a16:creationId xmlns:a16="http://schemas.microsoft.com/office/drawing/2014/main" id="{0493F366-F581-7078-6E4F-5972A6977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9522" y="5005754"/>
            <a:ext cx="379023" cy="4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312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9D4AA5-550B-E78F-5661-1713DC801569}"/>
              </a:ext>
            </a:extLst>
          </p:cNvPr>
          <p:cNvSpPr txBox="1"/>
          <p:nvPr/>
        </p:nvSpPr>
        <p:spPr>
          <a:xfrm>
            <a:off x="3203661" y="2848512"/>
            <a:ext cx="34986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i="1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srgbClr val="1A2E5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ko-KR" altLang="en-US" sz="4400" b="1" i="1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A2E57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6E3F58B-AF12-D45F-2D3B-391D7916DFF4}"/>
              </a:ext>
            </a:extLst>
          </p:cNvPr>
          <p:cNvCxnSpPr>
            <a:cxnSpLocks/>
          </p:cNvCxnSpPr>
          <p:nvPr/>
        </p:nvCxnSpPr>
        <p:spPr>
          <a:xfrm>
            <a:off x="436685" y="6214232"/>
            <a:ext cx="8977190" cy="0"/>
          </a:xfrm>
          <a:prstGeom prst="line">
            <a:avLst/>
          </a:prstGeom>
          <a:ln w="158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6B0107A7-A7FF-ED90-0A7F-62F3628F58C2}"/>
              </a:ext>
            </a:extLst>
          </p:cNvPr>
          <p:cNvSpPr/>
          <p:nvPr/>
        </p:nvSpPr>
        <p:spPr>
          <a:xfrm>
            <a:off x="9385300" y="6176132"/>
            <a:ext cx="72000" cy="720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>
                    <a:lumMod val="50000"/>
                    <a:alpha val="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13579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6570</TotalTime>
  <Words>1151</Words>
  <Application>Microsoft Office PowerPoint</Application>
  <PresentationFormat>A4 용지(210x297mm)</PresentationFormat>
  <Paragraphs>137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Anthropic Sans</vt:lpstr>
      <vt:lpstr>맑은 고딕</vt:lpstr>
      <vt:lpstr>프리젠테이션 3 Light</vt:lpstr>
      <vt:lpstr>프리젠테이션 6 SemiBold</vt:lpstr>
      <vt:lpstr>프리젠테이션 7 Bold</vt:lpstr>
      <vt:lpstr>프리젠테이션 8 ExtraBold</vt:lpstr>
      <vt:lpstr>Arial</vt:lpstr>
      <vt:lpstr>Calibri</vt:lpstr>
      <vt:lpstr>Calibri Light</vt:lpstr>
      <vt:lpstr>Wingdings</vt:lpstr>
      <vt:lpstr>Office 2013 - 2022 테마</vt:lpstr>
      <vt:lpstr>Multi Agent Systems(MAS) 기반  기술 도메인 적합 특허 선별 프레임워크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기술혁신 ()조 </dc:title>
  <dc:creator>현주 정</dc:creator>
  <cp:lastModifiedBy>수인 이</cp:lastModifiedBy>
  <cp:revision>405</cp:revision>
  <dcterms:created xsi:type="dcterms:W3CDTF">2024-09-23T11:16:27Z</dcterms:created>
  <dcterms:modified xsi:type="dcterms:W3CDTF">2026-06-15T08:19:26Z</dcterms:modified>
</cp:coreProperties>
</file>